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2" r:id="rId5"/>
    <p:sldId id="263" r:id="rId6"/>
    <p:sldId id="265" r:id="rId7"/>
  </p:sldIdLst>
  <p:sldSz cx="9144000" cy="5143500" type="screen16x9"/>
  <p:notesSz cx="5143500" cy="9144000"/>
  <p:embeddedFontLst>
    <p:embeddedFont>
      <p:font typeface="Georgia" panose="02040502050405020303" pitchFamily="18" charset="0"/>
      <p:regular r:id="rId9"/>
      <p:bold r:id="rId10"/>
      <p:italic r:id="rId11"/>
      <p:boldItalic r:id="rId12"/>
    </p:embeddedFont>
    <p:embeddedFont>
      <p:font typeface="Lora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Source Sans 3" panose="020B0604020202020204" charset="0"/>
      <p:regular r:id="rId18"/>
    </p:embeddedFont>
    <p:embeddedFont>
      <p:font typeface="Source Sans 3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174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3.svg"/><Relationship Id="rId5" Type="http://schemas.openxmlformats.org/officeDocument/2006/relationships/image" Target="../media/image-2-3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-5-2.svg"/><Relationship Id="rId3" Type="http://schemas.openxmlformats.org/officeDocument/2006/relationships/image" Target="../media/image5.png"/><Relationship Id="rId12" Type="http://schemas.openxmlformats.org/officeDocument/2006/relationships/image" Target="../media/image-5-12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-5-16.svg"/><Relationship Id="rId20" Type="http://schemas.openxmlformats.org/officeDocument/2006/relationships/image" Target="../media/image-5-20.sv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.png"/><Relationship Id="rId24" Type="http://schemas.openxmlformats.org/officeDocument/2006/relationships/image" Target="../media/image-5-24.svg"/><Relationship Id="rId15" Type="http://schemas.openxmlformats.org/officeDocument/2006/relationships/image" Target="../media/image7.png"/><Relationship Id="rId23" Type="http://schemas.openxmlformats.org/officeDocument/2006/relationships/image" Target="../media/image9.png"/><Relationship Id="rId10" Type="http://schemas.openxmlformats.org/officeDocument/2006/relationships/image" Target="../media/image-5-2.svg"/><Relationship Id="rId19" Type="http://schemas.openxmlformats.org/officeDocument/2006/relationships/image" Target="../media/image8.png"/><Relationship Id="rId14" Type="http://schemas.openxmlformats.org/officeDocument/2006/relationships/image" Target="../media/image-5-2.svg"/><Relationship Id="rId22" Type="http://schemas.openxmlformats.org/officeDocument/2006/relationships/image" Target="../media/image-5-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6.svg"/><Relationship Id="rId13" Type="http://schemas.openxmlformats.org/officeDocument/2006/relationships/image" Target="../media/image15.png"/><Relationship Id="rId18" Type="http://schemas.openxmlformats.org/officeDocument/2006/relationships/image" Target="../media/image-8-16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-8-10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-8-14.svg"/><Relationship Id="rId20" Type="http://schemas.openxmlformats.org/officeDocument/2006/relationships/image" Target="../media/image-8-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4.sv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10" Type="http://schemas.openxmlformats.org/officeDocument/2006/relationships/image" Target="../media/image-8-8.svg"/><Relationship Id="rId19" Type="http://schemas.openxmlformats.org/officeDocument/2006/relationships/image" Target="../media/image18.png"/><Relationship Id="rId4" Type="http://schemas.openxmlformats.org/officeDocument/2006/relationships/image" Target="../media/image-8-2.svg"/><Relationship Id="rId9" Type="http://schemas.openxmlformats.org/officeDocument/2006/relationships/image" Target="../media/image13.png"/><Relationship Id="rId14" Type="http://schemas.openxmlformats.org/officeDocument/2006/relationships/image" Target="../media/image-8-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979959"/>
            <a:ext cx="353742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CampusGuide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1561207"/>
            <a:ext cx="4667845" cy="1593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Plateforme Complète de Gestion Universitaire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952577" y="3351461"/>
            <a:ext cx="4667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Une application fullstack moderne qui centralise tous les services de la vie étudiante en un seul endroit — mentorat, clubs, événements et orientation académique.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952577" y="3917528"/>
            <a:ext cx="1421234" cy="245938"/>
          </a:xfrm>
          <a:prstGeom prst="roundRect">
            <a:avLst>
              <a:gd name="adj" fmla="val 6388"/>
            </a:avLst>
          </a:prstGeom>
          <a:solidFill>
            <a:srgbClr val="49042A"/>
          </a:solidFill>
          <a:ln/>
        </p:spPr>
      </p:sp>
      <p:sp>
        <p:nvSpPr>
          <p:cNvPr id="7" name="Shape 4"/>
          <p:cNvSpPr/>
          <p:nvPr/>
        </p:nvSpPr>
        <p:spPr>
          <a:xfrm>
            <a:off x="4031084" y="3988147"/>
            <a:ext cx="104701" cy="104701"/>
          </a:xfrm>
          <a:prstGeom prst="rect">
            <a:avLst/>
          </a:prstGeom>
          <a:solidFill>
            <a:srgbClr val="D6E5EF"/>
          </a:solidFill>
          <a:ln/>
        </p:spPr>
      </p:sp>
      <p:sp>
        <p:nvSpPr>
          <p:cNvPr id="8" name="Text 5"/>
          <p:cNvSpPr/>
          <p:nvPr/>
        </p:nvSpPr>
        <p:spPr>
          <a:xfrm>
            <a:off x="4188098" y="3956745"/>
            <a:ext cx="1564407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 FULLSTACK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39221" y="3917528"/>
            <a:ext cx="1354485" cy="245938"/>
          </a:xfrm>
          <a:prstGeom prst="roundRect">
            <a:avLst>
              <a:gd name="adj" fmla="val 6388"/>
            </a:avLst>
          </a:prstGeom>
          <a:noFill/>
          <a:ln/>
          <a:effectLst>
            <a:outerShdw blurRad="101600" dist="50800" dir="16200000" algn="bl" rotWithShape="0">
              <a:srgbClr val="F98AC7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17728" y="3988147"/>
            <a:ext cx="104701" cy="104701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11" name="Text 8"/>
          <p:cNvSpPr/>
          <p:nvPr/>
        </p:nvSpPr>
        <p:spPr>
          <a:xfrm>
            <a:off x="5674742" y="3956745"/>
            <a:ext cx="1497657" cy="167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POUR LES </a:t>
            </a:r>
            <a:r>
              <a:rPr lang="en-US" sz="800" dirty="0" smtClean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ETUDIANTS</a:t>
            </a:r>
            <a:endParaRPr lang="en-US" sz="800" dirty="0"/>
          </a:p>
        </p:txBody>
      </p:sp>
      <p:sp>
        <p:nvSpPr>
          <p:cNvPr id="13" name="Rectangle 12"/>
          <p:cNvSpPr/>
          <p:nvPr/>
        </p:nvSpPr>
        <p:spPr>
          <a:xfrm>
            <a:off x="7671547" y="4727774"/>
            <a:ext cx="1411941" cy="403412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533623"/>
            <a:ext cx="4758928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 Quoi Parle CampusGuide 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1114871"/>
            <a:ext cx="4667845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CampusGuide est une </a:t>
            </a: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application web fullstack moderne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conçue pour répondre aux besoins numériques des universités d'aujourd'hui. Elle centralise l'ensemble des services nécessaires à la vie étudiante — du mentorat académique à la gestion des clubs, en passant par les événements campus et l'orientation personnalisée.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2099742"/>
            <a:ext cx="4667845" cy="11895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54909" y="2244923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 Contexte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154909" y="2515939"/>
            <a:ext cx="4320332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Les universités manquent d'outils numériques cohérents pour accompagner leurs étudiants. Les services sont dispersés, les informations difficiles à trouver, et la connexion entre étudiants et mentors reste informelle.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577" y="3420219"/>
            <a:ext cx="4667845" cy="11895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54909" y="3565401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154909" y="3836417"/>
            <a:ext cx="4320332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CampusGuide rassemble tout en une seule plateforme intuitive : orientation académique, mentorat, clubs, événements, notifications en temps réel et assistant IA — accessible 24h/24, même hors-ligne.</a:t>
            </a:r>
            <a:endParaRPr lang="en-US" sz="1000" dirty="0"/>
          </a:p>
        </p:txBody>
      </p:sp>
      <p:sp>
        <p:nvSpPr>
          <p:cNvPr id="12" name="Rectangle 11"/>
          <p:cNvSpPr/>
          <p:nvPr/>
        </p:nvSpPr>
        <p:spPr>
          <a:xfrm>
            <a:off x="7671547" y="4727774"/>
            <a:ext cx="1411941" cy="403412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00645"/>
            <a:ext cx="3243263" cy="276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Fonctionnalités Principales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23577" y="812527"/>
            <a:ext cx="8554045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CampusGuide couvre l'ensemble des besoins de la vie étudiante grâce à des modules complémentaires et intégrés.</a:t>
            </a:r>
            <a:endParaRPr lang="en-US" sz="7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1010975"/>
            <a:ext cx="8096845" cy="5645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0677" y="1222683"/>
            <a:ext cx="141089" cy="14108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76982" y="1114559"/>
            <a:ext cx="110690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Système de Mentorat</a:t>
            </a:r>
            <a:endParaRPr lang="en-US" sz="850" dirty="0"/>
          </a:p>
        </p:txBody>
      </p:sp>
      <p:sp>
        <p:nvSpPr>
          <p:cNvPr id="15" name="Text 7"/>
          <p:cNvSpPr/>
          <p:nvPr/>
        </p:nvSpPr>
        <p:spPr>
          <a:xfrm>
            <a:off x="976982" y="1293525"/>
            <a:ext cx="7539856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Recherche de mentors par compétence, profils détaillés, demande de mentorat et évaluation des mentors par les étudiants.</a:t>
            </a:r>
            <a:endParaRPr lang="en-US" sz="7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3577" y="1643048"/>
            <a:ext cx="8096845" cy="564505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0677" y="1854756"/>
            <a:ext cx="141089" cy="141089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76982" y="1746632"/>
            <a:ext cx="110690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Clubs &amp; Associations</a:t>
            </a:r>
            <a:endParaRPr lang="en-US" sz="850" dirty="0"/>
          </a:p>
        </p:txBody>
      </p:sp>
      <p:sp>
        <p:nvSpPr>
          <p:cNvPr id="19" name="Text 9"/>
          <p:cNvSpPr/>
          <p:nvPr/>
        </p:nvSpPr>
        <p:spPr>
          <a:xfrm>
            <a:off x="976982" y="1925598"/>
            <a:ext cx="7539856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Liste des clubs disponibles, inscription en ligne, notation des clubs et gestion des compétences par club.</a:t>
            </a:r>
            <a:endParaRPr lang="en-US" sz="7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3577" y="2275121"/>
            <a:ext cx="8096845" cy="564505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0677" y="2486829"/>
            <a:ext cx="141089" cy="141089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976982" y="2378706"/>
            <a:ext cx="110690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 smtClean="0">
                <a:solidFill>
                  <a:srgbClr val="D6E5EF"/>
                </a:solidFill>
                <a:latin typeface="Lora" pitchFamily="34" charset="0"/>
              </a:rPr>
              <a:t>Calendrier</a:t>
            </a:r>
            <a:endParaRPr lang="en-US" sz="850" dirty="0"/>
          </a:p>
        </p:txBody>
      </p:sp>
      <p:sp>
        <p:nvSpPr>
          <p:cNvPr id="23" name="Text 11"/>
          <p:cNvSpPr/>
          <p:nvPr/>
        </p:nvSpPr>
        <p:spPr>
          <a:xfrm>
            <a:off x="976982" y="2557671"/>
            <a:ext cx="7539856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Calendrier interactif, inscription aux événements, notifications push, gestion des lieux et des dates.</a:t>
            </a:r>
            <a:endParaRPr lang="en-US" sz="7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23577" y="2907194"/>
            <a:ext cx="8096845" cy="564505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=""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0677" y="3118902"/>
            <a:ext cx="141089" cy="141089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976982" y="3010779"/>
            <a:ext cx="128386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 smtClean="0">
                <a:solidFill>
                  <a:srgbClr val="D6E5EF"/>
                </a:solidFill>
                <a:latin typeface="Lora" pitchFamily="34" charset="0"/>
              </a:rPr>
              <a:t>Campus</a:t>
            </a:r>
            <a:endParaRPr lang="en-US" sz="850" dirty="0"/>
          </a:p>
        </p:txBody>
      </p:sp>
      <p:sp>
        <p:nvSpPr>
          <p:cNvPr id="27" name="Text 13"/>
          <p:cNvSpPr/>
          <p:nvPr/>
        </p:nvSpPr>
        <p:spPr>
          <a:xfrm>
            <a:off x="976982" y="3189744"/>
            <a:ext cx="7539856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 smtClean="0">
                <a:solidFill>
                  <a:srgbClr val="D6E5EF"/>
                </a:solidFill>
                <a:latin typeface="Source Sans 3" pitchFamily="34" charset="0"/>
              </a:rPr>
              <a:t>Plan interactifs des batiments</a:t>
            </a:r>
            <a:endParaRPr lang="en-US" sz="700" dirty="0"/>
          </a:p>
        </p:txBody>
      </p:sp>
      <p:sp>
        <p:nvSpPr>
          <p:cNvPr id="28" name="Rectangle 27"/>
          <p:cNvSpPr/>
          <p:nvPr/>
        </p:nvSpPr>
        <p:spPr>
          <a:xfrm>
            <a:off x="7671547" y="4727774"/>
            <a:ext cx="1411941" cy="403412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3508"/>
            <a:ext cx="401590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Stack Technique — Backend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23577" y="994023"/>
            <a:ext cx="855404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backend repose sur une architecture </a:t>
            </a:r>
            <a:r>
              <a:rPr lang="en-US" sz="9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Node.js / Express.js</a:t>
            </a: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robuste, avec une base de données </a:t>
            </a:r>
            <a:r>
              <a:rPr lang="en-US" sz="9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MySQL</a:t>
            </a: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et des outils de sécurité éprouvés.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23577" y="1287140"/>
            <a:ext cx="3996482" cy="819448"/>
          </a:xfrm>
          <a:prstGeom prst="roundRect">
            <a:avLst>
              <a:gd name="adj" fmla="val 2134"/>
            </a:avLst>
          </a:prstGeom>
          <a:solidFill>
            <a:srgbClr val="444752"/>
          </a:solidFill>
          <a:ln/>
        </p:spPr>
      </p:sp>
      <p:sp>
        <p:nvSpPr>
          <p:cNvPr id="5" name="Text 3"/>
          <p:cNvSpPr/>
          <p:nvPr/>
        </p:nvSpPr>
        <p:spPr>
          <a:xfrm>
            <a:off x="640110" y="1403672"/>
            <a:ext cx="13716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Node.js v18+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110" y="1637333"/>
            <a:ext cx="376341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Runtime JavaScript côté serveur pour une API REST performante et scalable.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23867" y="1287140"/>
            <a:ext cx="3996556" cy="819448"/>
          </a:xfrm>
          <a:prstGeom prst="roundRect">
            <a:avLst>
              <a:gd name="adj" fmla="val 2134"/>
            </a:avLst>
          </a:prstGeom>
          <a:solidFill>
            <a:srgbClr val="444752"/>
          </a:solidFill>
          <a:ln/>
        </p:spPr>
      </p:sp>
      <p:sp>
        <p:nvSpPr>
          <p:cNvPr id="8" name="Text 6"/>
          <p:cNvSpPr/>
          <p:nvPr/>
        </p:nvSpPr>
        <p:spPr>
          <a:xfrm>
            <a:off x="4740399" y="1403672"/>
            <a:ext cx="13716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Express.js v4.18.2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40399" y="1637333"/>
            <a:ext cx="376349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Framework web modulaire pour structurer les routes API et gérer les requêtes HTTP.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3577" y="2210395"/>
            <a:ext cx="3996482" cy="819448"/>
          </a:xfrm>
          <a:prstGeom prst="roundRect">
            <a:avLst>
              <a:gd name="adj" fmla="val 2134"/>
            </a:avLst>
          </a:prstGeom>
          <a:solidFill>
            <a:srgbClr val="444752"/>
          </a:solidFill>
          <a:ln/>
        </p:spPr>
      </p:sp>
      <p:sp>
        <p:nvSpPr>
          <p:cNvPr id="11" name="Text 9"/>
          <p:cNvSpPr/>
          <p:nvPr/>
        </p:nvSpPr>
        <p:spPr>
          <a:xfrm>
            <a:off x="640110" y="2326928"/>
            <a:ext cx="13716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MySQL v3.22.3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110" y="2560588"/>
            <a:ext cx="376341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 de données relationnelle pour stocker utilisateurs, mentors, clubs et événements.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3867" y="2210395"/>
            <a:ext cx="3996556" cy="819448"/>
          </a:xfrm>
          <a:prstGeom prst="roundRect">
            <a:avLst>
              <a:gd name="adj" fmla="val 2134"/>
            </a:avLst>
          </a:prstGeom>
          <a:solidFill>
            <a:srgbClr val="444752"/>
          </a:solidFill>
          <a:ln/>
        </p:spPr>
      </p:sp>
      <p:sp>
        <p:nvSpPr>
          <p:cNvPr id="14" name="Text 12"/>
          <p:cNvSpPr/>
          <p:nvPr/>
        </p:nvSpPr>
        <p:spPr>
          <a:xfrm>
            <a:off x="4740399" y="2326928"/>
            <a:ext cx="13716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JWT v9.0.3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40399" y="2560588"/>
            <a:ext cx="376349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Tokens d'authentification sécurisés sans sessions côté serveur.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3577" y="3133651"/>
            <a:ext cx="3996482" cy="643086"/>
          </a:xfrm>
          <a:prstGeom prst="roundRect">
            <a:avLst>
              <a:gd name="adj" fmla="val 2720"/>
            </a:avLst>
          </a:prstGeom>
          <a:solidFill>
            <a:srgbClr val="44475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110" y="3250183"/>
            <a:ext cx="13716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bcryptjs v3.0.3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110" y="3483843"/>
            <a:ext cx="376341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Hashage des mots de passe avant stockage pour une sécurité maximale.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23867" y="3133651"/>
            <a:ext cx="3996556" cy="643086"/>
          </a:xfrm>
          <a:prstGeom prst="roundRect">
            <a:avLst>
              <a:gd name="adj" fmla="val 2720"/>
            </a:avLst>
          </a:prstGeom>
          <a:solidFill>
            <a:srgbClr val="444752"/>
          </a:solidFill>
          <a:ln/>
        </p:spPr>
      </p:sp>
      <p:sp>
        <p:nvSpPr>
          <p:cNvPr id="20" name="Text 18"/>
          <p:cNvSpPr/>
          <p:nvPr/>
        </p:nvSpPr>
        <p:spPr>
          <a:xfrm>
            <a:off x="4740399" y="3250183"/>
            <a:ext cx="13716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Socket.io v4.8.3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40399" y="3483843"/>
            <a:ext cx="376349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WebSockets pour notifications temps réel et communication bidirectionnelle.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3577" y="3880545"/>
            <a:ext cx="3996482" cy="819448"/>
          </a:xfrm>
          <a:prstGeom prst="roundRect">
            <a:avLst>
              <a:gd name="adj" fmla="val 2134"/>
            </a:avLst>
          </a:prstGeom>
          <a:solidFill>
            <a:srgbClr val="44475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110" y="3997077"/>
            <a:ext cx="13716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Multer v2.1.1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110" y="4230737"/>
            <a:ext cx="3763417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Gestion sécurisée de l'upload d'images et de fichiers utilisateurs.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3867" y="3880545"/>
            <a:ext cx="3996556" cy="819448"/>
          </a:xfrm>
          <a:prstGeom prst="roundRect">
            <a:avLst>
              <a:gd name="adj" fmla="val 2134"/>
            </a:avLst>
          </a:prstGeom>
          <a:solidFill>
            <a:srgbClr val="444752"/>
          </a:solidFill>
          <a:ln/>
        </p:spPr>
      </p:sp>
      <p:sp>
        <p:nvSpPr>
          <p:cNvPr id="26" name="Text 24"/>
          <p:cNvSpPr/>
          <p:nvPr/>
        </p:nvSpPr>
        <p:spPr>
          <a:xfrm>
            <a:off x="4740399" y="3997077"/>
            <a:ext cx="1371674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CORS &amp; dotenv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40399" y="4230737"/>
            <a:ext cx="376349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Gestion cross-origin et configuration sécurisée des variables d'environnement.</a:t>
            </a:r>
            <a:endParaRPr lang="en-US" sz="900" dirty="0"/>
          </a:p>
        </p:txBody>
      </p:sp>
      <p:sp>
        <p:nvSpPr>
          <p:cNvPr id="28" name="Rectangle 27"/>
          <p:cNvSpPr/>
          <p:nvPr/>
        </p:nvSpPr>
        <p:spPr>
          <a:xfrm>
            <a:off x="7671547" y="4727774"/>
            <a:ext cx="1411941" cy="403412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76684"/>
            <a:ext cx="4171876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Stack Technique — Frontend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23577" y="940519"/>
            <a:ext cx="8554045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frontend s'appuie sur </a:t>
            </a:r>
            <a:r>
              <a:rPr lang="en-US" sz="9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React 19</a:t>
            </a: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et </a:t>
            </a:r>
            <a:r>
              <a:rPr lang="en-US" sz="9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Vite</a:t>
            </a: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pour une expérience utilisateur rapide, moderne et installable comme une application native.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242268"/>
            <a:ext cx="296540" cy="2965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1673200"/>
            <a:ext cx="1395710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 v19.2.5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23577" y="1912144"/>
            <a:ext cx="26093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Interface interactive avec composants réutilisables et gestion d'état efficace.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7298" y="1242268"/>
            <a:ext cx="296540" cy="2965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7298" y="1673200"/>
            <a:ext cx="1395710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Vite v8.0.10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267298" y="1912144"/>
            <a:ext cx="26093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tool moderne avec hot reload instantané et optimisation production.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1019" y="1242268"/>
            <a:ext cx="296540" cy="2965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11019" y="1673200"/>
            <a:ext cx="1395710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 Router v7.14.2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011019" y="1912144"/>
            <a:ext cx="26093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Navigation SPA fluide sans rechargement de page pour une expérience continue.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2488778"/>
            <a:ext cx="296540" cy="2965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3577" y="2919710"/>
            <a:ext cx="1395710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TailwindCSS v4.2.2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523577" y="3158654"/>
            <a:ext cx="26093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Styling rapide avec classes utilitaires pour un design cohérent et responsive.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7298" y="2488778"/>
            <a:ext cx="296540" cy="2965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7298" y="2919710"/>
            <a:ext cx="1514475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Framer Motion v12.38.0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3267298" y="3158654"/>
            <a:ext cx="26093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Animations professionnelles et interactives pour une UX engageante.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1019" y="2488778"/>
            <a:ext cx="296540" cy="2965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11019" y="2919710"/>
            <a:ext cx="1478161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vite-plugin-PWA v1.3.0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6011019" y="3158654"/>
            <a:ext cx="26093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 installable sur mobile avec support complet hors-ligne.</a:t>
            </a:r>
            <a:endParaRPr lang="en-US" sz="9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3577" y="3735288"/>
            <a:ext cx="296540" cy="29654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3577" y="4166220"/>
            <a:ext cx="1395710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Chart.js v4.5.1</a:t>
            </a:r>
            <a:endParaRPr lang="en-US" sz="1050" dirty="0"/>
          </a:p>
        </p:txBody>
      </p:sp>
      <p:sp>
        <p:nvSpPr>
          <p:cNvPr id="24" name="Text 15"/>
          <p:cNvSpPr/>
          <p:nvPr/>
        </p:nvSpPr>
        <p:spPr>
          <a:xfrm>
            <a:off x="523577" y="4405164"/>
            <a:ext cx="26093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Graphiques interactifs pour le dashboard admin et les visualisations de données.</a:t>
            </a:r>
            <a:endParaRPr lang="en-US" sz="9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67298" y="3735288"/>
            <a:ext cx="296540" cy="29654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267298" y="4166220"/>
            <a:ext cx="1432992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Socket.io-client v4.8.3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3267298" y="4405164"/>
            <a:ext cx="26093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Réception des notifications temps réel côté frontend depuis le serveur.</a:t>
            </a:r>
            <a:endParaRPr lang="en-US" sz="9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11019" y="3735288"/>
            <a:ext cx="296540" cy="29654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011019" y="4166220"/>
            <a:ext cx="1395710" cy="174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Lucide React v1.14.0</a:t>
            </a:r>
            <a:endParaRPr lang="en-US" sz="1050" dirty="0"/>
          </a:p>
        </p:txBody>
      </p:sp>
      <p:sp>
        <p:nvSpPr>
          <p:cNvPr id="30" name="Text 19"/>
          <p:cNvSpPr/>
          <p:nvPr/>
        </p:nvSpPr>
        <p:spPr>
          <a:xfrm>
            <a:off x="6011019" y="4405164"/>
            <a:ext cx="2609329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Bibliothèque d'icônes modernes et cohérentes pour toute l'interface.</a:t>
            </a:r>
            <a:endParaRPr lang="en-US" sz="900" dirty="0"/>
          </a:p>
        </p:txBody>
      </p:sp>
      <p:sp>
        <p:nvSpPr>
          <p:cNvPr id="31" name="Rectangle 30"/>
          <p:cNvSpPr/>
          <p:nvPr/>
        </p:nvSpPr>
        <p:spPr>
          <a:xfrm>
            <a:off x="7671547" y="4727774"/>
            <a:ext cx="1411941" cy="403412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9"/>
          <p:cNvSpPr/>
          <p:nvPr/>
        </p:nvSpPr>
        <p:spPr>
          <a:xfrm>
            <a:off x="3952577" y="416084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4" name="Shape 9"/>
          <p:cNvSpPr/>
          <p:nvPr/>
        </p:nvSpPr>
        <p:spPr>
          <a:xfrm>
            <a:off x="3952577" y="189313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r>
              <a:rPr lang="en-US" sz="1200" dirty="0" smtClean="0">
                <a:solidFill>
                  <a:schemeClr val="bg1"/>
                </a:solidFill>
              </a:rPr>
              <a:t>2</a:t>
            </a:r>
            <a:endParaRPr lang="fr-FR" sz="1200" dirty="0">
              <a:solidFill>
                <a:schemeClr val="bg1"/>
              </a:solidFill>
            </a:endParaRPr>
          </a:p>
        </p:txBody>
      </p:sp>
      <p:sp>
        <p:nvSpPr>
          <p:cNvPr id="56" name="Shape 9"/>
          <p:cNvSpPr/>
          <p:nvPr/>
        </p:nvSpPr>
        <p:spPr>
          <a:xfrm>
            <a:off x="3952577" y="302699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5" name="Shape 9"/>
          <p:cNvSpPr/>
          <p:nvPr/>
        </p:nvSpPr>
        <p:spPr>
          <a:xfrm>
            <a:off x="3952577" y="1325427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370731"/>
            <a:ext cx="3309565" cy="330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 smtClean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952577" y="846534"/>
            <a:ext cx="4667845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CampusGuide est une plateforme </a:t>
            </a:r>
            <a:r>
              <a:rPr lang="en-US" sz="8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évolutive par conception</a:t>
            </a: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Son architecture modulaire permet d'ajouter de nouvelles fonctionnalités sans compromettre l'existant.</a:t>
            </a:r>
            <a:endParaRPr lang="en-US" sz="850" dirty="0"/>
          </a:p>
        </p:txBody>
      </p:sp>
      <p:sp>
        <p:nvSpPr>
          <p:cNvPr id="42" name="Text 7"/>
          <p:cNvSpPr/>
          <p:nvPr/>
        </p:nvSpPr>
        <p:spPr>
          <a:xfrm>
            <a:off x="3952577" y="132620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3" name="Text 8"/>
          <p:cNvSpPr/>
          <p:nvPr/>
        </p:nvSpPr>
        <p:spPr>
          <a:xfrm>
            <a:off x="4546937" y="132620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chat complet entre étudiants et mentors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5" name="Text 11"/>
          <p:cNvSpPr/>
          <p:nvPr/>
        </p:nvSpPr>
        <p:spPr>
          <a:xfrm>
            <a:off x="4546937" y="189313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 cours en ligne et tutoriels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6" name="Shape 12"/>
          <p:cNvSpPr/>
          <p:nvPr/>
        </p:nvSpPr>
        <p:spPr>
          <a:xfrm>
            <a:off x="3952577" y="246006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Text 13"/>
          <p:cNvSpPr/>
          <p:nvPr/>
        </p:nvSpPr>
        <p:spPr>
          <a:xfrm>
            <a:off x="3952577" y="246006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8" name="Text 14"/>
          <p:cNvSpPr/>
          <p:nvPr/>
        </p:nvSpPr>
        <p:spPr>
          <a:xfrm>
            <a:off x="4546937" y="246006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native (React Native — iOS/Android)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9" name="Text 16"/>
          <p:cNvSpPr/>
          <p:nvPr/>
        </p:nvSpPr>
        <p:spPr>
          <a:xfrm>
            <a:off x="3952577" y="302699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0" name="Text 17"/>
          <p:cNvSpPr/>
          <p:nvPr/>
        </p:nvSpPr>
        <p:spPr>
          <a:xfrm>
            <a:off x="4546937" y="302699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paiements (inscriptions et abonnements)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1" name="Shape 18"/>
          <p:cNvSpPr/>
          <p:nvPr/>
        </p:nvSpPr>
        <p:spPr>
          <a:xfrm>
            <a:off x="3952577" y="359391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5</a:t>
            </a:r>
            <a:endParaRPr lang="fr-FR" sz="1100" dirty="0">
              <a:solidFill>
                <a:schemeClr val="bg1"/>
              </a:solidFill>
            </a:endParaRPr>
          </a:p>
        </p:txBody>
      </p:sp>
      <p:sp>
        <p:nvSpPr>
          <p:cNvPr id="52" name="Text 20"/>
          <p:cNvSpPr/>
          <p:nvPr/>
        </p:nvSpPr>
        <p:spPr>
          <a:xfrm>
            <a:off x="4546937" y="359391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avancés avec Machine Learning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3" name="Text 22"/>
          <p:cNvSpPr/>
          <p:nvPr/>
        </p:nvSpPr>
        <p:spPr>
          <a:xfrm>
            <a:off x="3952577" y="416084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4" name="Text 23"/>
          <p:cNvSpPr/>
          <p:nvPr/>
        </p:nvSpPr>
        <p:spPr>
          <a:xfrm>
            <a:off x="4546937" y="416084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multi-langues (internationalisation)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671547" y="4727774"/>
            <a:ext cx="1411941" cy="403412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798755" y="451289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98755" y="480968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 avec passion pour les étudiants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603</Words>
  <Application>Microsoft Office PowerPoint</Application>
  <PresentationFormat>Affichage à l'écran (16:9)</PresentationFormat>
  <Paragraphs>81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Georgia</vt:lpstr>
      <vt:lpstr>Lora</vt:lpstr>
      <vt:lpstr>Arial</vt:lpstr>
      <vt:lpstr>Calibri</vt:lpstr>
      <vt:lpstr>Source Sans 3</vt:lpstr>
      <vt:lpstr>Source Sans 3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lastModifiedBy>CONGO MOBILES</cp:lastModifiedBy>
  <cp:revision>4</cp:revision>
  <dcterms:created xsi:type="dcterms:W3CDTF">2026-07-02T11:30:43Z</dcterms:created>
  <dcterms:modified xsi:type="dcterms:W3CDTF">2026-07-10T10:42:13Z</dcterms:modified>
</cp:coreProperties>
</file>